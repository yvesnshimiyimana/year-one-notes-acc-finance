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9" r:id="rId5"/>
    <p:sldId id="270" r:id="rId6"/>
    <p:sldId id="260" r:id="rId7"/>
    <p:sldId id="261" r:id="rId8"/>
    <p:sldId id="262" r:id="rId9"/>
    <p:sldId id="263" r:id="rId10"/>
    <p:sldId id="264" r:id="rId11"/>
    <p:sldId id="265" r:id="rId12"/>
    <p:sldId id="266" r:id="rId13"/>
    <p:sldId id="267" r:id="rId14"/>
    <p:sldId id="268"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8" d="100"/>
          <a:sy n="58" d="100"/>
        </p:scale>
        <p:origin x="1520" y="4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96592E9-292A-4018-B873-10F978EDB914}" type="datetimeFigureOut">
              <a:rPr lang="en-US" smtClean="0"/>
              <a:pPr/>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D0DE3E-CE38-41C2-B109-C7316C32170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96592E9-292A-4018-B873-10F978EDB914}" type="datetimeFigureOut">
              <a:rPr lang="en-US" smtClean="0"/>
              <a:pPr/>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D0DE3E-CE38-41C2-B109-C7316C32170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96592E9-292A-4018-B873-10F978EDB914}" type="datetimeFigureOut">
              <a:rPr lang="en-US" smtClean="0"/>
              <a:pPr/>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D0DE3E-CE38-41C2-B109-C7316C32170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96592E9-292A-4018-B873-10F978EDB914}" type="datetimeFigureOut">
              <a:rPr lang="en-US" smtClean="0"/>
              <a:pPr/>
              <a:t>11/20/2025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D0DE3E-CE38-41C2-B109-C7316C32170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96592E9-292A-4018-B873-10F978EDB914}" type="datetimeFigureOut">
              <a:rPr lang="en-US" smtClean="0"/>
              <a:pPr/>
              <a:t>11/20/2025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7D0DE3E-CE38-41C2-B109-C7316C32170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96592E9-292A-4018-B873-10F978EDB914}" type="datetimeFigureOut">
              <a:rPr lang="en-US" smtClean="0"/>
              <a:pPr/>
              <a:t>11/20/2025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7D0DE3E-CE38-41C2-B109-C7316C32170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6592E9-292A-4018-B873-10F978EDB914}" type="datetimeFigureOut">
              <a:rPr lang="en-US" smtClean="0"/>
              <a:pPr/>
              <a:t>11/20/2025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7D0DE3E-CE38-41C2-B109-C7316C32170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96592E9-292A-4018-B873-10F978EDB914}" type="datetimeFigureOut">
              <a:rPr lang="en-US" smtClean="0"/>
              <a:pPr/>
              <a:t>11/20/2025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D0DE3E-CE38-41C2-B109-C7316C32170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96592E9-292A-4018-B873-10F978EDB914}" type="datetimeFigureOut">
              <a:rPr lang="en-US" smtClean="0"/>
              <a:pPr/>
              <a:t>11/20/2025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D0DE3E-CE38-41C2-B109-C7316C32170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96592E9-292A-4018-B873-10F978EDB914}" type="datetimeFigureOut">
              <a:rPr lang="en-US" smtClean="0"/>
              <a:pPr/>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D0DE3E-CE38-41C2-B109-C7316C32170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96592E9-292A-4018-B873-10F978EDB914}" type="datetimeFigureOut">
              <a:rPr lang="en-US" smtClean="0"/>
              <a:pPr/>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D0DE3E-CE38-41C2-B109-C7316C32170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6592E9-292A-4018-B873-10F978EDB914}" type="datetimeFigureOut">
              <a:rPr lang="en-US" smtClean="0"/>
              <a:pPr/>
              <a:t>11/20/2025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D0DE3E-CE38-41C2-B109-C7316C32170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ww.slideshare.net/MargratCR/functions-of-management-71192292"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hyperlink" Target="https://www.slideshare.net/MargratCR/functions-of-management-71192292"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slideshare.net/MargratCR/functions-of-management-71192292"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slideshare.net/MargratCR/functions-of-management-71192292"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slideshare.net/MargratCR/functions-of-management-71192292"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slideshare.net/MargratCR/functions-of-management-71192292"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slideshare.net/MargratCR/functions-of-management-71192292"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slideshare.net/MargratCR/functions-of-management-71192292"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slideshare.net/MargratCR/functions-of-management-71192292"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slideshare.net/MargratCR/functions-of-management-71192292"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slideshare.net/MargratCR/functions-of-management-71192292"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www.slideshare.net/MargratCR/functions-of-management-71192292"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ww.slideshare.net/MargratCR/functions-of-management-71192292"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417638"/>
          </a:xfrm>
        </p:spPr>
        <p:txBody>
          <a:bodyPr>
            <a:normAutofit fontScale="90000"/>
          </a:bodyPr>
          <a:lstStyle/>
          <a:p>
            <a:r>
              <a:rPr lang="en-US" dirty="0" err="1" smtClean="0"/>
              <a:t>Ch</a:t>
            </a:r>
            <a:r>
              <a:rPr lang="en-US" dirty="0" smtClean="0"/>
              <a:t> 4: Key </a:t>
            </a:r>
            <a:r>
              <a:rPr lang="en-US" dirty="0"/>
              <a:t>Basic Functions of management</a:t>
            </a:r>
            <a:endParaRPr lang="en-US" dirty="0"/>
          </a:p>
        </p:txBody>
      </p:sp>
      <p:sp>
        <p:nvSpPr>
          <p:cNvPr id="3" name="Content Placeholder 2"/>
          <p:cNvSpPr>
            <a:spLocks noGrp="1"/>
          </p:cNvSpPr>
          <p:nvPr>
            <p:ph idx="1"/>
          </p:nvPr>
        </p:nvSpPr>
        <p:spPr>
          <a:xfrm>
            <a:off x="0" y="1196752"/>
            <a:ext cx="9036496" cy="5544616"/>
          </a:xfrm>
        </p:spPr>
        <p:txBody>
          <a:bodyPr>
            <a:normAutofit lnSpcReduction="10000"/>
          </a:bodyPr>
          <a:lstStyle/>
          <a:p>
            <a:r>
              <a:rPr lang="en-US" dirty="0" smtClean="0">
                <a:hlinkClick r:id="rId2"/>
              </a:rPr>
              <a:t>Management</a:t>
            </a:r>
            <a:r>
              <a:rPr lang="en-US" dirty="0"/>
              <a:t> </a:t>
            </a:r>
            <a:r>
              <a:rPr lang="en-US" dirty="0" smtClean="0">
                <a:hlinkClick r:id="rId2"/>
              </a:rPr>
              <a:t>is </a:t>
            </a:r>
            <a:r>
              <a:rPr lang="en-US" dirty="0">
                <a:hlinkClick r:id="rId2"/>
              </a:rPr>
              <a:t>a</a:t>
            </a:r>
            <a:r>
              <a:rPr lang="en-US" dirty="0"/>
              <a:t> distinct process consisting of planning, organizing, activating and controlling to determine and accomplish the objectives by the use of people and resources."- G.R. Terry </a:t>
            </a:r>
            <a:r>
              <a:rPr lang="en-US" dirty="0" smtClean="0"/>
              <a:t>“</a:t>
            </a:r>
          </a:p>
          <a:p>
            <a:r>
              <a:rPr lang="en-US" dirty="0" smtClean="0"/>
              <a:t>To </a:t>
            </a:r>
            <a:r>
              <a:rPr lang="en-US" dirty="0"/>
              <a:t>manage is to forecast and plan, to </a:t>
            </a:r>
            <a:r>
              <a:rPr lang="en-US" dirty="0" err="1"/>
              <a:t>organise</a:t>
            </a:r>
            <a:r>
              <a:rPr lang="en-US" dirty="0"/>
              <a:t>, to command, to co-ordinate and to control." - Henry </a:t>
            </a:r>
            <a:r>
              <a:rPr lang="en-US" dirty="0" err="1"/>
              <a:t>Fayol</a:t>
            </a:r>
            <a:r>
              <a:rPr lang="en-US" dirty="0"/>
              <a:t> </a:t>
            </a:r>
            <a:r>
              <a:rPr lang="en-US" dirty="0" smtClean="0"/>
              <a:t>“</a:t>
            </a:r>
          </a:p>
          <a:p>
            <a:r>
              <a:rPr lang="en-US" dirty="0" smtClean="0"/>
              <a:t>Management </a:t>
            </a:r>
            <a:r>
              <a:rPr lang="en-US" dirty="0"/>
              <a:t>is simply the process of decision making and control over the action of human beings for the express purpose of attaining pre-determined goals." - Stanley </a:t>
            </a:r>
            <a:r>
              <a:rPr lang="en-US" dirty="0" smtClean="0"/>
              <a:t>Vance</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5 FUNCTIONS OF MANAGEMENT</a:t>
            </a:r>
            <a:endParaRPr lang="en-US" dirty="0"/>
          </a:p>
        </p:txBody>
      </p:sp>
      <p:sp>
        <p:nvSpPr>
          <p:cNvPr id="3" name="Content Placeholder 2"/>
          <p:cNvSpPr>
            <a:spLocks noGrp="1"/>
          </p:cNvSpPr>
          <p:nvPr>
            <p:ph idx="1"/>
          </p:nvPr>
        </p:nvSpPr>
        <p:spPr/>
        <p:txBody>
          <a:bodyPr>
            <a:normAutofit fontScale="92500" lnSpcReduction="10000"/>
          </a:bodyPr>
          <a:lstStyle/>
          <a:p>
            <a:r>
              <a:rPr lang="en-US" b="1" dirty="0" smtClean="0">
                <a:hlinkClick r:id="rId2"/>
              </a:rPr>
              <a:t>Koontz and O'Donnell</a:t>
            </a:r>
            <a:r>
              <a:rPr lang="en-US" dirty="0" smtClean="0"/>
              <a:t> explained five functions of management. They have become widely accepted functions of management everywhere. </a:t>
            </a:r>
          </a:p>
          <a:p>
            <a:pPr marL="0" indent="0">
              <a:buNone/>
            </a:pPr>
            <a:r>
              <a:rPr lang="en-US" dirty="0" smtClean="0"/>
              <a:t>They are</a:t>
            </a:r>
          </a:p>
          <a:p>
            <a:r>
              <a:rPr lang="en-US" dirty="0" smtClean="0"/>
              <a:t>Planning </a:t>
            </a:r>
            <a:endParaRPr lang="en-US" dirty="0" smtClean="0"/>
          </a:p>
          <a:p>
            <a:r>
              <a:rPr lang="en-US" dirty="0" smtClean="0"/>
              <a:t>Organizing </a:t>
            </a:r>
            <a:endParaRPr lang="en-US" dirty="0" smtClean="0"/>
          </a:p>
          <a:p>
            <a:r>
              <a:rPr lang="en-US" dirty="0" smtClean="0"/>
              <a:t>Staffing </a:t>
            </a:r>
            <a:endParaRPr lang="en-US" dirty="0" smtClean="0"/>
          </a:p>
          <a:p>
            <a:r>
              <a:rPr lang="en-US" dirty="0"/>
              <a:t>D</a:t>
            </a:r>
            <a:r>
              <a:rPr lang="en-US" dirty="0" smtClean="0"/>
              <a:t>irecting </a:t>
            </a:r>
            <a:r>
              <a:rPr lang="en-US" dirty="0" smtClean="0"/>
              <a:t>and</a:t>
            </a:r>
          </a:p>
          <a:p>
            <a:r>
              <a:rPr lang="en-US" dirty="0"/>
              <a:t>C</a:t>
            </a:r>
            <a:r>
              <a:rPr lang="en-US" dirty="0" smtClean="0"/>
              <a:t>ontrolling</a:t>
            </a:r>
            <a:r>
              <a:rPr lang="en-US" dirty="0" smtClean="0"/>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hlinkClick r:id="rId2"/>
              </a:rPr>
              <a:t>Planning</a:t>
            </a:r>
            <a:endParaRPr lang="en-US" dirty="0"/>
          </a:p>
        </p:txBody>
      </p:sp>
      <p:sp>
        <p:nvSpPr>
          <p:cNvPr id="3" name="Content Placeholder 2"/>
          <p:cNvSpPr>
            <a:spLocks noGrp="1"/>
          </p:cNvSpPr>
          <p:nvPr>
            <p:ph idx="1"/>
          </p:nvPr>
        </p:nvSpPr>
        <p:spPr/>
        <p:txBody>
          <a:bodyPr>
            <a:normAutofit/>
          </a:bodyPr>
          <a:lstStyle/>
          <a:p>
            <a:pPr marL="0" indent="0">
              <a:buNone/>
            </a:pPr>
            <a:r>
              <a:rPr lang="en-US" b="1" dirty="0" smtClean="0">
                <a:hlinkClick r:id="rId2"/>
              </a:rPr>
              <a:t>deciding</a:t>
            </a:r>
            <a:r>
              <a:rPr lang="en-US" dirty="0"/>
              <a:t> in </a:t>
            </a:r>
            <a:r>
              <a:rPr lang="en-US" dirty="0" smtClean="0"/>
              <a:t>advance; what </a:t>
            </a:r>
            <a:r>
              <a:rPr lang="en-US" dirty="0"/>
              <a:t>to </a:t>
            </a:r>
            <a:r>
              <a:rPr lang="en-US" dirty="0" smtClean="0"/>
              <a:t>do, how </a:t>
            </a:r>
            <a:r>
              <a:rPr lang="en-US" dirty="0"/>
              <a:t>to </a:t>
            </a:r>
            <a:r>
              <a:rPr lang="en-US" dirty="0" smtClean="0"/>
              <a:t>do, why </a:t>
            </a:r>
            <a:r>
              <a:rPr lang="en-US" dirty="0"/>
              <a:t>to </a:t>
            </a:r>
            <a:r>
              <a:rPr lang="en-US" dirty="0" smtClean="0"/>
              <a:t>do, where </a:t>
            </a:r>
            <a:r>
              <a:rPr lang="en-US" dirty="0"/>
              <a:t>to do </a:t>
            </a:r>
            <a:r>
              <a:rPr lang="en-US" dirty="0" smtClean="0"/>
              <a:t>and who </a:t>
            </a:r>
            <a:r>
              <a:rPr lang="en-US" dirty="0"/>
              <a:t>will be responsible for doing is planning. </a:t>
            </a:r>
            <a:endParaRPr lang="en-US" dirty="0" smtClean="0"/>
          </a:p>
          <a:p>
            <a:pPr marL="0" indent="0">
              <a:buNone/>
            </a:pPr>
            <a:r>
              <a:rPr lang="en-US" dirty="0" smtClean="0"/>
              <a:t>Planning </a:t>
            </a:r>
            <a:r>
              <a:rPr lang="en-US" dirty="0"/>
              <a:t>bridges the gap from where we are to where we want to go. It makes it possible for things to occur which would not otherwise happen" - Koontz and </a:t>
            </a:r>
            <a:r>
              <a:rPr lang="en-US" dirty="0" err="1"/>
              <a:t>O'Donnel</a:t>
            </a:r>
            <a:r>
              <a:rPr lang="en-US" dirty="0" smtClean="0"/>
              <a:t>.</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hlinkClick r:id="rId2"/>
              </a:rPr>
              <a:t>Importance of Planning </a:t>
            </a:r>
            <a:br>
              <a:rPr lang="en-US" b="1" dirty="0" smtClean="0">
                <a:hlinkClick r:id="rId2"/>
              </a:rPr>
            </a:br>
            <a:endParaRPr lang="en-US" dirty="0"/>
          </a:p>
        </p:txBody>
      </p:sp>
      <p:sp>
        <p:nvSpPr>
          <p:cNvPr id="3" name="Content Placeholder 2"/>
          <p:cNvSpPr>
            <a:spLocks noGrp="1"/>
          </p:cNvSpPr>
          <p:nvPr>
            <p:ph idx="1"/>
          </p:nvPr>
        </p:nvSpPr>
        <p:spPr/>
        <p:txBody>
          <a:bodyPr>
            <a:normAutofit/>
          </a:bodyPr>
          <a:lstStyle/>
          <a:p>
            <a:r>
              <a:rPr lang="en-US" dirty="0" smtClean="0"/>
              <a:t>Provides </a:t>
            </a:r>
            <a:r>
              <a:rPr lang="en-US" dirty="0" smtClean="0"/>
              <a:t>directions</a:t>
            </a:r>
          </a:p>
          <a:p>
            <a:r>
              <a:rPr lang="en-US" dirty="0" smtClean="0"/>
              <a:t>Planning </a:t>
            </a:r>
            <a:r>
              <a:rPr lang="en-US" dirty="0" smtClean="0"/>
              <a:t>reduces the risks of uncertainty</a:t>
            </a:r>
          </a:p>
          <a:p>
            <a:r>
              <a:rPr lang="en-US" dirty="0" smtClean="0"/>
              <a:t>Planning </a:t>
            </a:r>
            <a:r>
              <a:rPr lang="en-US" dirty="0" smtClean="0"/>
              <a:t>reduces overlapping and wasteful activities </a:t>
            </a:r>
          </a:p>
          <a:p>
            <a:r>
              <a:rPr lang="en-US" dirty="0" smtClean="0"/>
              <a:t>Planning </a:t>
            </a:r>
            <a:r>
              <a:rPr lang="en-US" dirty="0" smtClean="0"/>
              <a:t>promotes innovative ideas</a:t>
            </a:r>
          </a:p>
          <a:p>
            <a:r>
              <a:rPr lang="en-US" dirty="0" smtClean="0"/>
              <a:t>Planning </a:t>
            </a:r>
            <a:r>
              <a:rPr lang="en-US" dirty="0" smtClean="0"/>
              <a:t>facilitates decision making</a:t>
            </a:r>
          </a:p>
          <a:p>
            <a:r>
              <a:rPr lang="en-US" dirty="0" smtClean="0"/>
              <a:t>Planning </a:t>
            </a:r>
            <a:r>
              <a:rPr lang="en-US" dirty="0" smtClean="0"/>
              <a:t>establishes standards for controlling </a:t>
            </a:r>
          </a:p>
          <a:p>
            <a:endParaRPr lang="en-US" dirty="0" smtClean="0"/>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chemeClr val="tx2"/>
                </a:solidFill>
              </a:rPr>
              <a:t>Features of planning</a:t>
            </a:r>
            <a:br>
              <a:rPr lang="en-US" b="1" dirty="0" smtClean="0">
                <a:solidFill>
                  <a:schemeClr val="tx2"/>
                </a:solidFill>
              </a:rPr>
            </a:br>
            <a:endParaRPr lang="en-US" dirty="0"/>
          </a:p>
        </p:txBody>
      </p:sp>
      <p:sp>
        <p:nvSpPr>
          <p:cNvPr id="3" name="Content Placeholder 2"/>
          <p:cNvSpPr>
            <a:spLocks noGrp="1"/>
          </p:cNvSpPr>
          <p:nvPr>
            <p:ph idx="1"/>
          </p:nvPr>
        </p:nvSpPr>
        <p:spPr/>
        <p:txBody>
          <a:bodyPr>
            <a:normAutofit/>
          </a:bodyPr>
          <a:lstStyle/>
          <a:p>
            <a:r>
              <a:rPr lang="en-US" dirty="0" smtClean="0"/>
              <a:t>Planning </a:t>
            </a:r>
            <a:r>
              <a:rPr lang="en-US" dirty="0" smtClean="0"/>
              <a:t>focuses on achieving objectives</a:t>
            </a:r>
          </a:p>
          <a:p>
            <a:r>
              <a:rPr lang="en-US" dirty="0" smtClean="0"/>
              <a:t>Planning </a:t>
            </a:r>
            <a:r>
              <a:rPr lang="en-US" dirty="0" smtClean="0"/>
              <a:t>is a primary function of management </a:t>
            </a:r>
          </a:p>
          <a:p>
            <a:r>
              <a:rPr lang="en-US" dirty="0" smtClean="0"/>
              <a:t>Planning </a:t>
            </a:r>
            <a:r>
              <a:rPr lang="en-US" dirty="0" smtClean="0"/>
              <a:t>is pervasive </a:t>
            </a:r>
          </a:p>
          <a:p>
            <a:r>
              <a:rPr lang="en-US" dirty="0" smtClean="0"/>
              <a:t>Planning </a:t>
            </a:r>
            <a:r>
              <a:rPr lang="en-US" dirty="0" smtClean="0"/>
              <a:t>is continuous</a:t>
            </a:r>
          </a:p>
          <a:p>
            <a:r>
              <a:rPr lang="en-US" dirty="0" smtClean="0"/>
              <a:t>Planning </a:t>
            </a:r>
            <a:r>
              <a:rPr lang="en-US" dirty="0" smtClean="0"/>
              <a:t>is futuristic</a:t>
            </a:r>
          </a:p>
          <a:p>
            <a:r>
              <a:rPr lang="en-US" dirty="0" smtClean="0"/>
              <a:t>Planning </a:t>
            </a:r>
            <a:r>
              <a:rPr lang="en-US" dirty="0" smtClean="0"/>
              <a:t>involves decision making </a:t>
            </a:r>
          </a:p>
          <a:p>
            <a:r>
              <a:rPr lang="en-US" dirty="0" smtClean="0"/>
              <a:t>Planning </a:t>
            </a:r>
            <a:r>
              <a:rPr lang="en-US" dirty="0" smtClean="0"/>
              <a:t>is a mental exercise</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6712"/>
          </a:xfrm>
        </p:spPr>
        <p:txBody>
          <a:bodyPr>
            <a:normAutofit fontScale="90000"/>
          </a:bodyPr>
          <a:lstStyle/>
          <a:p>
            <a:r>
              <a:rPr lang="en-US" b="1" dirty="0" smtClean="0">
                <a:hlinkClick r:id="rId2"/>
              </a:rPr>
              <a:t/>
            </a:r>
            <a:br>
              <a:rPr lang="en-US" b="1" dirty="0" smtClean="0">
                <a:hlinkClick r:id="rId2"/>
              </a:rPr>
            </a:br>
            <a:r>
              <a:rPr lang="en-US" b="1" dirty="0" smtClean="0">
                <a:hlinkClick r:id="rId2"/>
              </a:rPr>
              <a:t>PLANNING</a:t>
            </a:r>
            <a:r>
              <a:rPr lang="en-US" b="1" dirty="0" smtClean="0"/>
              <a:t> PROCESS</a:t>
            </a:r>
            <a:r>
              <a:rPr lang="en-US" dirty="0" smtClean="0"/>
              <a:t/>
            </a:r>
            <a:br>
              <a:rPr lang="en-US" dirty="0" smtClean="0"/>
            </a:br>
            <a:endParaRPr lang="en-US" dirty="0"/>
          </a:p>
        </p:txBody>
      </p:sp>
      <p:sp>
        <p:nvSpPr>
          <p:cNvPr id="3" name="Content Placeholder 2"/>
          <p:cNvSpPr>
            <a:spLocks noGrp="1"/>
          </p:cNvSpPr>
          <p:nvPr>
            <p:ph idx="1"/>
          </p:nvPr>
        </p:nvSpPr>
        <p:spPr>
          <a:xfrm>
            <a:off x="0" y="908720"/>
            <a:ext cx="9144000" cy="5760640"/>
          </a:xfrm>
        </p:spPr>
        <p:txBody>
          <a:bodyPr>
            <a:normAutofit fontScale="85000" lnSpcReduction="20000"/>
          </a:bodyPr>
          <a:lstStyle/>
          <a:p>
            <a:r>
              <a:rPr lang="en-US" dirty="0" smtClean="0"/>
              <a:t>Objectives </a:t>
            </a:r>
            <a:r>
              <a:rPr lang="en-US" dirty="0" smtClean="0"/>
              <a:t>may be set for the entire organization and each department or unit within the organization. </a:t>
            </a:r>
          </a:p>
          <a:p>
            <a:r>
              <a:rPr lang="en-US" b="1" dirty="0" smtClean="0"/>
              <a:t>Developing premises: </a:t>
            </a:r>
            <a:r>
              <a:rPr lang="en-US" dirty="0" smtClean="0"/>
              <a:t>Planning is concerned with the future which is uncertain and every planner is using conjuncture about what might happen in future.</a:t>
            </a:r>
          </a:p>
          <a:p>
            <a:r>
              <a:rPr lang="en-US" b="1" dirty="0" smtClean="0"/>
              <a:t> Identifying alternative courses of action: </a:t>
            </a:r>
            <a:r>
              <a:rPr lang="en-US" dirty="0" smtClean="0"/>
              <a:t>Once objectives are set, assumptions are made. Then the next step would be to act upon them.</a:t>
            </a:r>
            <a:endParaRPr lang="en-US" b="1" dirty="0" smtClean="0"/>
          </a:p>
          <a:p>
            <a:r>
              <a:rPr lang="en-US" b="1" dirty="0" smtClean="0"/>
              <a:t> Evaluating alternative courses: </a:t>
            </a:r>
            <a:r>
              <a:rPr lang="en-US" dirty="0" smtClean="0"/>
              <a:t>The next step is to weigh the pros and cons of each alternative. </a:t>
            </a:r>
          </a:p>
          <a:p>
            <a:r>
              <a:rPr lang="en-US" b="1" dirty="0" smtClean="0"/>
              <a:t>Selecting an alternative: </a:t>
            </a:r>
            <a:r>
              <a:rPr lang="en-US" dirty="0" smtClean="0"/>
              <a:t>This is the real point of decision making. The best plan has to be adopted and implemented. </a:t>
            </a:r>
          </a:p>
          <a:p>
            <a:r>
              <a:rPr lang="en-US" dirty="0" smtClean="0"/>
              <a:t>I</a:t>
            </a:r>
            <a:r>
              <a:rPr lang="en-US" b="1" dirty="0" smtClean="0"/>
              <a:t>mplement the plan: </a:t>
            </a:r>
            <a:r>
              <a:rPr lang="en-US" dirty="0" smtClean="0"/>
              <a:t>This is concerned with putting the plan into action. Follow-up action: Monitoring the plans are equally important to ensure that objectives are achieved.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6712"/>
          </a:xfrm>
        </p:spPr>
        <p:txBody>
          <a:bodyPr>
            <a:normAutofit fontScale="90000"/>
          </a:bodyPr>
          <a:lstStyle/>
          <a:p>
            <a:r>
              <a:rPr lang="en-US" b="1" dirty="0" smtClean="0">
                <a:hlinkClick r:id="rId2"/>
              </a:rPr>
              <a:t/>
            </a:r>
            <a:br>
              <a:rPr lang="en-US" b="1" dirty="0" smtClean="0">
                <a:hlinkClick r:id="rId2"/>
              </a:rPr>
            </a:br>
            <a:r>
              <a:rPr lang="en-US" b="1" dirty="0" smtClean="0">
                <a:hlinkClick r:id="rId2"/>
              </a:rPr>
              <a:t>ORGANIZING</a:t>
            </a:r>
            <a:r>
              <a:rPr lang="en-US" b="1" dirty="0" smtClean="0"/>
              <a:t/>
            </a:r>
            <a:br>
              <a:rPr lang="en-US" b="1" dirty="0" smtClean="0"/>
            </a:br>
            <a:endParaRPr lang="en-US" dirty="0"/>
          </a:p>
        </p:txBody>
      </p:sp>
      <p:sp>
        <p:nvSpPr>
          <p:cNvPr id="3" name="Content Placeholder 2"/>
          <p:cNvSpPr>
            <a:spLocks noGrp="1"/>
          </p:cNvSpPr>
          <p:nvPr>
            <p:ph idx="1"/>
          </p:nvPr>
        </p:nvSpPr>
        <p:spPr>
          <a:xfrm>
            <a:off x="0" y="836712"/>
            <a:ext cx="9144000" cy="5904656"/>
          </a:xfrm>
        </p:spPr>
        <p:txBody>
          <a:bodyPr>
            <a:normAutofit lnSpcReduction="10000"/>
          </a:bodyPr>
          <a:lstStyle/>
          <a:p>
            <a:r>
              <a:rPr lang="en-US" b="1" dirty="0" smtClean="0">
                <a:hlinkClick r:id="rId2"/>
              </a:rPr>
              <a:t>Division of work</a:t>
            </a:r>
            <a:r>
              <a:rPr lang="en-US" dirty="0" smtClean="0"/>
              <a:t> into functions and sub-functions, grouping of activities that are closely related in their nature, assigning of duties and responsibilities to the employees and finally delegation of authority and power to each employee or the group to discharge their duties accordingly are the processes come under the function of management organizing. "Organization is the process of identifying and grouping of the works to be performed, defining and delegating responsibility and authority and establishing relationships for the purpose of enabling people to work most efficiently". - Louis A. Allen Definition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6712"/>
          </a:xfrm>
        </p:spPr>
        <p:txBody>
          <a:bodyPr/>
          <a:lstStyle/>
          <a:p>
            <a:r>
              <a:rPr lang="en-US" b="1" dirty="0" smtClean="0">
                <a:hlinkClick r:id="rId2"/>
              </a:rPr>
              <a:t>Importance of Organizing</a:t>
            </a:r>
            <a:endParaRPr lang="en-US" dirty="0"/>
          </a:p>
        </p:txBody>
      </p:sp>
      <p:sp>
        <p:nvSpPr>
          <p:cNvPr id="3" name="Content Placeholder 2"/>
          <p:cNvSpPr>
            <a:spLocks noGrp="1"/>
          </p:cNvSpPr>
          <p:nvPr>
            <p:ph idx="1"/>
          </p:nvPr>
        </p:nvSpPr>
        <p:spPr>
          <a:xfrm>
            <a:off x="107504" y="836712"/>
            <a:ext cx="8928992" cy="5904656"/>
          </a:xfrm>
        </p:spPr>
        <p:txBody>
          <a:bodyPr>
            <a:normAutofit/>
          </a:bodyPr>
          <a:lstStyle/>
          <a:p>
            <a:r>
              <a:rPr lang="en-US" b="1" dirty="0" smtClean="0">
                <a:hlinkClick r:id="rId2"/>
              </a:rPr>
              <a:t>Organizing</a:t>
            </a:r>
            <a:r>
              <a:rPr lang="en-US" dirty="0" smtClean="0"/>
              <a:t> helps Organizations to reap the benefit of specialization.</a:t>
            </a:r>
          </a:p>
          <a:p>
            <a:r>
              <a:rPr lang="en-US" dirty="0" smtClean="0"/>
              <a:t>Organizing </a:t>
            </a:r>
            <a:r>
              <a:rPr lang="en-US" dirty="0" smtClean="0"/>
              <a:t>provides for Optimum utilization of resources.</a:t>
            </a:r>
          </a:p>
          <a:p>
            <a:r>
              <a:rPr lang="en-US" dirty="0" smtClean="0"/>
              <a:t>Organizing </a:t>
            </a:r>
            <a:r>
              <a:rPr lang="en-US" dirty="0" smtClean="0"/>
              <a:t>helps in Effective administration. </a:t>
            </a:r>
            <a:r>
              <a:rPr lang="en-US" dirty="0" smtClean="0"/>
              <a:t>Organizing </a:t>
            </a:r>
            <a:r>
              <a:rPr lang="en-US" dirty="0" smtClean="0"/>
              <a:t>channels for Expansion and growth.</a:t>
            </a:r>
          </a:p>
          <a:p>
            <a:r>
              <a:rPr lang="en-US" dirty="0" smtClean="0"/>
              <a:t>Organizing </a:t>
            </a:r>
            <a:r>
              <a:rPr lang="en-US" dirty="0" smtClean="0"/>
              <a:t>achieves co-ordination among different departments. </a:t>
            </a:r>
          </a:p>
          <a:p>
            <a:r>
              <a:rPr lang="en-US" dirty="0" smtClean="0"/>
              <a:t>Organizing </a:t>
            </a:r>
            <a:r>
              <a:rPr lang="en-US" dirty="0" smtClean="0"/>
              <a:t>creates scope for new change.</a:t>
            </a:r>
          </a:p>
          <a:p>
            <a:endParaRPr lang="en-US" dirty="0" smtClean="0"/>
          </a:p>
          <a:p>
            <a:endParaRPr lang="en-US" dirty="0" smtClean="0"/>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6712"/>
          </a:xfrm>
        </p:spPr>
        <p:txBody>
          <a:bodyPr/>
          <a:lstStyle/>
          <a:p>
            <a:r>
              <a:rPr lang="en-US" b="1" dirty="0" smtClean="0">
                <a:hlinkClick r:id="rId2"/>
              </a:rPr>
              <a:t>Organizing Process</a:t>
            </a:r>
            <a:endParaRPr lang="en-US" dirty="0"/>
          </a:p>
        </p:txBody>
      </p:sp>
      <p:sp>
        <p:nvSpPr>
          <p:cNvPr id="3" name="Content Placeholder 2"/>
          <p:cNvSpPr>
            <a:spLocks noGrp="1"/>
          </p:cNvSpPr>
          <p:nvPr>
            <p:ph idx="1"/>
          </p:nvPr>
        </p:nvSpPr>
        <p:spPr>
          <a:xfrm>
            <a:off x="107504" y="836712"/>
            <a:ext cx="8928992" cy="6021288"/>
          </a:xfrm>
        </p:spPr>
        <p:txBody>
          <a:bodyPr>
            <a:normAutofit fontScale="77500" lnSpcReduction="20000"/>
          </a:bodyPr>
          <a:lstStyle/>
          <a:p>
            <a:r>
              <a:rPr lang="en-US" dirty="0" smtClean="0"/>
              <a:t>The </a:t>
            </a:r>
            <a:r>
              <a:rPr lang="en-US" dirty="0" smtClean="0"/>
              <a:t>first process of Organizing includes;</a:t>
            </a:r>
          </a:p>
          <a:p>
            <a:r>
              <a:rPr lang="en-US" dirty="0" smtClean="0"/>
              <a:t>Identification </a:t>
            </a:r>
            <a:r>
              <a:rPr lang="en-US" dirty="0" smtClean="0"/>
              <a:t>and division of work which shall be done in accordance with the plans that are determined previously. </a:t>
            </a:r>
          </a:p>
          <a:p>
            <a:r>
              <a:rPr lang="en-US" dirty="0" err="1" smtClean="0"/>
              <a:t>Departmentation</a:t>
            </a:r>
            <a:r>
              <a:rPr lang="en-US" dirty="0" smtClean="0"/>
              <a:t>: once the work of identifying and dividing the work has been done those are similar are to be grouped.</a:t>
            </a:r>
          </a:p>
          <a:p>
            <a:r>
              <a:rPr lang="en-US" dirty="0" smtClean="0"/>
              <a:t> Linking departments: When the process of </a:t>
            </a:r>
            <a:r>
              <a:rPr lang="en-US" dirty="0" err="1" smtClean="0"/>
              <a:t>departmentation</a:t>
            </a:r>
            <a:r>
              <a:rPr lang="en-US" dirty="0" smtClean="0"/>
              <a:t> was completed, linking of departments has to be done so that those departments operate in a co-</a:t>
            </a:r>
            <a:r>
              <a:rPr lang="en-US" dirty="0" err="1" smtClean="0"/>
              <a:t>ordinated</a:t>
            </a:r>
            <a:r>
              <a:rPr lang="en-US" dirty="0" smtClean="0"/>
              <a:t> manner which gives a shape to overall organization structure. </a:t>
            </a:r>
          </a:p>
          <a:p>
            <a:r>
              <a:rPr lang="en-US" dirty="0" smtClean="0"/>
              <a:t>Assigning Duties: On completion of </a:t>
            </a:r>
            <a:r>
              <a:rPr lang="en-US" dirty="0" err="1" smtClean="0"/>
              <a:t>departmentation</a:t>
            </a:r>
            <a:r>
              <a:rPr lang="en-US" dirty="0" smtClean="0"/>
              <a:t> process assigning duties i.e. defining authority and responsibility to the employees on the basis of their skills and capabilities has to be done, which in consequence magnifies efficiency with regard to their work. </a:t>
            </a:r>
          </a:p>
          <a:p>
            <a:r>
              <a:rPr lang="en-US" dirty="0" smtClean="0"/>
              <a:t>Defining hierarchal structure: Each employee should also know from whom he has to take orders and to whom he is accountable/responsible.</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hlinkClick r:id="rId2"/>
              </a:rPr>
              <a:t>DIRECTING</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r>
              <a:rPr lang="en-US" b="1" dirty="0" smtClean="0">
                <a:hlinkClick r:id="rId2"/>
              </a:rPr>
              <a:t>Directing is nothing</a:t>
            </a:r>
            <a:r>
              <a:rPr lang="en-US" dirty="0" smtClean="0"/>
              <a:t> but guiding and leading the people in an organization. It is not just giving instructions by a superior to the sub-ordinates but also is a process of supervising, guiding and motivating the latter to achieve the organizational goals. "Activating deals with the steps a manager takes to get sub- ordinates and others to carry out plans". - Newman and Warren. Definition</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392"/>
            <a:ext cx="8229600" cy="936104"/>
          </a:xfrm>
        </p:spPr>
        <p:txBody>
          <a:bodyPr>
            <a:normAutofit/>
          </a:bodyPr>
          <a:lstStyle/>
          <a:p>
            <a:r>
              <a:rPr lang="en-US" b="1" dirty="0" smtClean="0">
                <a:hlinkClick r:id="rId2"/>
              </a:rPr>
              <a:t>Importance of Directing</a:t>
            </a:r>
            <a:endParaRPr lang="en-US" dirty="0"/>
          </a:p>
        </p:txBody>
      </p:sp>
      <p:sp>
        <p:nvSpPr>
          <p:cNvPr id="3" name="Content Placeholder 2"/>
          <p:cNvSpPr>
            <a:spLocks noGrp="1"/>
          </p:cNvSpPr>
          <p:nvPr>
            <p:ph idx="1"/>
          </p:nvPr>
        </p:nvSpPr>
        <p:spPr>
          <a:xfrm>
            <a:off x="0" y="836712"/>
            <a:ext cx="9144000" cy="5904656"/>
          </a:xfrm>
        </p:spPr>
        <p:txBody>
          <a:bodyPr>
            <a:normAutofit fontScale="92500" lnSpcReduction="10000"/>
          </a:bodyPr>
          <a:lstStyle/>
          <a:p>
            <a:r>
              <a:rPr lang="en-US" b="1" dirty="0" smtClean="0">
                <a:hlinkClick r:id="rId2"/>
              </a:rPr>
              <a:t>Direction</a:t>
            </a:r>
            <a:r>
              <a:rPr lang="en-US" dirty="0" smtClean="0"/>
              <a:t> initiates actions to get the desired results in an </a:t>
            </a:r>
            <a:r>
              <a:rPr lang="en-US" dirty="0" err="1" smtClean="0"/>
              <a:t>organisation</a:t>
            </a:r>
            <a:r>
              <a:rPr lang="en-US" dirty="0" smtClean="0"/>
              <a:t>.</a:t>
            </a:r>
          </a:p>
          <a:p>
            <a:r>
              <a:rPr lang="en-US" dirty="0" smtClean="0"/>
              <a:t>Direction </a:t>
            </a:r>
            <a:r>
              <a:rPr lang="en-US" dirty="0" smtClean="0"/>
              <a:t>attempts to get maximum out of employees by identifying their capabilities.</a:t>
            </a:r>
          </a:p>
          <a:p>
            <a:r>
              <a:rPr lang="en-US" dirty="0" smtClean="0"/>
              <a:t>Direction </a:t>
            </a:r>
            <a:r>
              <a:rPr lang="en-US" dirty="0" smtClean="0"/>
              <a:t>is essential to keep the elements like Supervision, Motivation, Leadership and Communication effective.</a:t>
            </a:r>
          </a:p>
          <a:p>
            <a:r>
              <a:rPr lang="en-US" dirty="0" smtClean="0"/>
              <a:t>It </a:t>
            </a:r>
            <a:r>
              <a:rPr lang="en-US" dirty="0" smtClean="0"/>
              <a:t>ensures that every employee work for </a:t>
            </a:r>
            <a:r>
              <a:rPr lang="en-US" dirty="0" err="1" smtClean="0"/>
              <a:t>organisational</a:t>
            </a:r>
            <a:r>
              <a:rPr lang="en-US" dirty="0" smtClean="0"/>
              <a:t> goals.</a:t>
            </a:r>
          </a:p>
          <a:p>
            <a:r>
              <a:rPr lang="en-US" dirty="0" smtClean="0"/>
              <a:t>Coping </a:t>
            </a:r>
            <a:r>
              <a:rPr lang="en-US" dirty="0" smtClean="0"/>
              <a:t>up with the changes in the </a:t>
            </a:r>
            <a:r>
              <a:rPr lang="en-US" dirty="0" err="1" smtClean="0"/>
              <a:t>o</a:t>
            </a:r>
            <a:r>
              <a:rPr lang="en-US" dirty="0" err="1" smtClean="0"/>
              <a:t>rganisation</a:t>
            </a:r>
            <a:r>
              <a:rPr lang="en-US" dirty="0" smtClean="0"/>
              <a:t> </a:t>
            </a:r>
            <a:r>
              <a:rPr lang="en-US" dirty="0" smtClean="0"/>
              <a:t>is possible through effective direction.</a:t>
            </a:r>
          </a:p>
          <a:p>
            <a:r>
              <a:rPr lang="en-US" dirty="0" smtClean="0"/>
              <a:t>Stability </a:t>
            </a:r>
            <a:r>
              <a:rPr lang="en-US" dirty="0" smtClean="0"/>
              <a:t>and balance can be achieved through directing.</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hlinkClick r:id="rId2"/>
              </a:rPr>
              <a:t>STAFFING</a:t>
            </a:r>
            <a:r>
              <a:rPr lang="en-US" dirty="0" smtClean="0"/>
              <a:t/>
            </a:r>
            <a:br>
              <a:rPr lang="en-US" dirty="0" smtClean="0"/>
            </a:br>
            <a:endParaRPr lang="en-US" dirty="0"/>
          </a:p>
        </p:txBody>
      </p:sp>
      <p:sp>
        <p:nvSpPr>
          <p:cNvPr id="3" name="Content Placeholder 2"/>
          <p:cNvSpPr>
            <a:spLocks noGrp="1"/>
          </p:cNvSpPr>
          <p:nvPr>
            <p:ph idx="1"/>
          </p:nvPr>
        </p:nvSpPr>
        <p:spPr>
          <a:xfrm>
            <a:off x="0" y="836712"/>
            <a:ext cx="9036496" cy="6021288"/>
          </a:xfrm>
        </p:spPr>
        <p:txBody>
          <a:bodyPr>
            <a:normAutofit/>
          </a:bodyPr>
          <a:lstStyle/>
          <a:p>
            <a:r>
              <a:rPr lang="en-US" b="1" dirty="0" smtClean="0">
                <a:hlinkClick r:id="rId2"/>
              </a:rPr>
              <a:t>In the simplest</a:t>
            </a:r>
            <a:r>
              <a:rPr lang="en-US" dirty="0" smtClean="0"/>
              <a:t> terms, staffing in management is ‘putting people to jobs’. "Staffing is the function by which managers build an </a:t>
            </a:r>
            <a:r>
              <a:rPr lang="en-US" dirty="0" err="1" smtClean="0"/>
              <a:t>organisation</a:t>
            </a:r>
            <a:r>
              <a:rPr lang="en-US" dirty="0" smtClean="0"/>
              <a:t> through the recruitment, selection, and development of individuals as capable employees" - McFarland Definition Importance of </a:t>
            </a:r>
            <a:r>
              <a:rPr lang="en-US" dirty="0" smtClean="0"/>
              <a:t>Staffing; Filling </a:t>
            </a:r>
            <a:r>
              <a:rPr lang="en-US" dirty="0" smtClean="0"/>
              <a:t>the </a:t>
            </a:r>
            <a:r>
              <a:rPr lang="en-US" dirty="0" err="1" smtClean="0"/>
              <a:t>Organisational</a:t>
            </a:r>
            <a:r>
              <a:rPr lang="en-US" dirty="0" smtClean="0"/>
              <a:t> </a:t>
            </a:r>
            <a:r>
              <a:rPr lang="en-US" dirty="0" smtClean="0"/>
              <a:t>positions, Developing </a:t>
            </a:r>
            <a:r>
              <a:rPr lang="en-US" dirty="0" smtClean="0"/>
              <a:t>competencies to </a:t>
            </a:r>
            <a:r>
              <a:rPr lang="en-US" dirty="0" smtClean="0"/>
              <a:t>challenges, Retaining </a:t>
            </a:r>
            <a:r>
              <a:rPr lang="en-US" dirty="0" smtClean="0"/>
              <a:t>personnel </a:t>
            </a:r>
            <a:r>
              <a:rPr lang="en-US" dirty="0" smtClean="0"/>
              <a:t>– professionalism, Optimum </a:t>
            </a:r>
            <a:r>
              <a:rPr lang="en-US" dirty="0" err="1" smtClean="0"/>
              <a:t>utilisation</a:t>
            </a:r>
            <a:r>
              <a:rPr lang="en-US" dirty="0" smtClean="0"/>
              <a:t> of the human resources</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6712"/>
          </a:xfrm>
        </p:spPr>
        <p:txBody>
          <a:bodyPr>
            <a:normAutofit/>
          </a:bodyPr>
          <a:lstStyle/>
          <a:p>
            <a:r>
              <a:rPr lang="en-US" b="1" dirty="0" smtClean="0">
                <a:hlinkClick r:id="rId2"/>
              </a:rPr>
              <a:t>Staffing Process</a:t>
            </a:r>
            <a:endParaRPr lang="en-US" dirty="0"/>
          </a:p>
        </p:txBody>
      </p:sp>
      <p:sp>
        <p:nvSpPr>
          <p:cNvPr id="3" name="Content Placeholder 2"/>
          <p:cNvSpPr>
            <a:spLocks noGrp="1"/>
          </p:cNvSpPr>
          <p:nvPr>
            <p:ph idx="1"/>
          </p:nvPr>
        </p:nvSpPr>
        <p:spPr>
          <a:xfrm>
            <a:off x="0" y="764704"/>
            <a:ext cx="9144000" cy="5976664"/>
          </a:xfrm>
        </p:spPr>
        <p:txBody>
          <a:bodyPr>
            <a:normAutofit fontScale="85000" lnSpcReduction="20000"/>
          </a:bodyPr>
          <a:lstStyle/>
          <a:p>
            <a:r>
              <a:rPr lang="en-US" b="1" dirty="0" smtClean="0">
                <a:hlinkClick r:id="rId2"/>
              </a:rPr>
              <a:t>Analyzing Manpower</a:t>
            </a:r>
            <a:r>
              <a:rPr lang="en-US" dirty="0" smtClean="0"/>
              <a:t> requirements: It is making an analysis of work and estimating the manpower requirement to accomplish the same.</a:t>
            </a:r>
          </a:p>
          <a:p>
            <a:r>
              <a:rPr lang="en-US" dirty="0" smtClean="0"/>
              <a:t> Recruitment: It is identifying and attracting capable applicants for employment. it ends with the submission of applications by the aspirants.</a:t>
            </a:r>
          </a:p>
          <a:p>
            <a:r>
              <a:rPr lang="en-US" dirty="0" smtClean="0"/>
              <a:t> Selection: It is choosing the fit candidates from the applications received in the process of recruitment. </a:t>
            </a:r>
          </a:p>
          <a:p>
            <a:r>
              <a:rPr lang="en-US" dirty="0" smtClean="0"/>
              <a:t>Placement: This may be on probation and on successfully completion of the same the candidate may be offered permanent employment.</a:t>
            </a:r>
          </a:p>
          <a:p>
            <a:r>
              <a:rPr lang="en-US" dirty="0" smtClean="0"/>
              <a:t> Training and Development: It is concerned with imparting and developing specific skills for a particular purpose.</a:t>
            </a:r>
          </a:p>
          <a:p>
            <a:r>
              <a:rPr lang="en-US" dirty="0" smtClean="0"/>
              <a:t> Performance Appraisal: Systematic evaluation of personnel by superiors or others familiar with their performance so as to rank employees to ascertain their eligibility for promotions.</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hlinkClick r:id="rId2"/>
              </a:rPr>
              <a:t>CONTROLLING</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r>
              <a:rPr lang="en-US" b="1" dirty="0" smtClean="0">
                <a:hlinkClick r:id="rId2"/>
              </a:rPr>
              <a:t>It is the</a:t>
            </a:r>
            <a:r>
              <a:rPr lang="en-US" dirty="0" smtClean="0"/>
              <a:t> process that ensures whether the resources are obtained and used efficiently in achieving the organizational objectives "Controlling is determining what is being accomplished - that is, evaluating performance and, if necessary, applying corrective measures so that performance takes place according to plans". - Terry and Franklin. Definition</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7346</TotalTime>
  <Words>404</Words>
  <Application>Microsoft Office PowerPoint</Application>
  <PresentationFormat>On-screen Show (4:3)</PresentationFormat>
  <Paragraphs>73</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Ch 4: Key Basic Functions of management</vt:lpstr>
      <vt:lpstr>5 FUNCTIONS OF MANAGEMENT</vt:lpstr>
      <vt:lpstr>Planning</vt:lpstr>
      <vt:lpstr>Importance of Planning  </vt:lpstr>
      <vt:lpstr>Features of planning </vt:lpstr>
      <vt:lpstr> PLANNING PROCESS </vt:lpstr>
      <vt:lpstr> ORGANIZING </vt:lpstr>
      <vt:lpstr>Importance of Organizing</vt:lpstr>
      <vt:lpstr>Organizing Process</vt:lpstr>
      <vt:lpstr>DIRECTING </vt:lpstr>
      <vt:lpstr>Importance of Directing</vt:lpstr>
      <vt:lpstr>STAFFING </vt:lpstr>
      <vt:lpstr>Staffing Process</vt:lpstr>
      <vt:lpstr>CONTROLLING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Functions of management </dc:title>
  <dc:creator>CL</dc:creator>
  <cp:lastModifiedBy>JacQues</cp:lastModifiedBy>
  <cp:revision>5</cp:revision>
  <dcterms:created xsi:type="dcterms:W3CDTF">2023-06-17T07:52:07Z</dcterms:created>
  <dcterms:modified xsi:type="dcterms:W3CDTF">2025-11-20T06:09:39Z</dcterms:modified>
</cp:coreProperties>
</file>